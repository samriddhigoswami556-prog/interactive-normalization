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474720" cy="41148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18CF8"/>
                </a:solidFill>
              </a:defRPr>
            </a:pPr>
            <a:r>
              <a:t>DATABASE MANAGEMENT SYSTEMS • DA1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Interactive Normalization &amp;</a:t>
            </a:r>
          </a:p>
          <a:p>
            <a:pPr>
              <a:defRPr sz="4000" b="1">
                <a:solidFill>
                  <a:srgbClr val="C084FC"/>
                </a:solidFill>
              </a:defRPr>
            </a:pPr>
            <a:r>
              <a:t>Functional Dependency Analyzer</a:t>
            </a:r>
          </a:p>
          <a:p>
            <a:pPr>
              <a:spcBef>
                <a:spcPts val="1400"/>
              </a:spcBef>
              <a:defRPr sz="1500">
                <a:solidFill>
                  <a:srgbClr val="94A3B8"/>
                </a:solidFill>
              </a:defRPr>
            </a:pPr>
            <a:r>
              <a:t>A full-stack diagnostic environment for schema closure derivation, candidate key discovery, and normal form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3200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4805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Armstrong Closures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Fixed-point algorithmic calculation of X+ with visual step-by-step expansion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297680"/>
            <a:ext cx="3200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44805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Candidate Key Finder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Pruned combinatorial search with Essential, RHS-only, and Middle attribute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297680"/>
            <a:ext cx="3200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44805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Normal Form Diagnostics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Automated compliance verification for 1NF, 2NF, 3NF, and BCNF with per-FD justification.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EVALUATION CRITERION 1 • 1 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Requirements Understanding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The Core Challenge in RDBMS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Why manual normalization fails</a:t>
            </a:r>
          </a:p>
          <a:p>
            <a:pPr>
              <a:spcBef>
                <a:spcPts val="800"/>
              </a:spcBef>
              <a:defRPr b="1" sz="1200">
                <a:solidFill>
                  <a:srgbClr val="818CF8"/>
                </a:solidFill>
              </a:defRPr>
            </a:pPr>
            <a:r>
              <a:t>• High Computational Complexity: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Finding all candidate keys is NP-hard in the general case, leading to missed composite keys in exam and design settings.</a:t>
            </a:r>
          </a:p>
          <a:p>
            <a:pPr>
              <a:spcBef>
                <a:spcPts val="800"/>
              </a:spcBef>
              <a:defRPr b="1" sz="1200">
                <a:solidFill>
                  <a:srgbClr val="818CF8"/>
                </a:solidFill>
              </a:defRPr>
            </a:pPr>
            <a:r>
              <a:t>• Redundancy &amp; Schema Anomalies: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Poorly normalized relations suffer from insertion, deletion, and update anomalies that compromise data integrity.</a:t>
            </a:r>
          </a:p>
          <a:p>
            <a:pPr>
              <a:spcBef>
                <a:spcPts val="800"/>
              </a:spcBef>
              <a:defRPr b="1" sz="1200">
                <a:solidFill>
                  <a:srgbClr val="818CF8"/>
                </a:solidFill>
              </a:defRPr>
            </a:pPr>
            <a:r>
              <a:t>• Human Calculation Errors: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Manual closure calculation is error-prone when schemas exceed 4 attributes or have multiple overlapping FDs.</a:t>
            </a:r>
          </a:p>
          <a:p>
            <a:pPr>
              <a:spcBef>
                <a:spcPts val="800"/>
              </a:spcBef>
              <a:defRPr b="1" sz="1200">
                <a:solidFill>
                  <a:srgbClr val="818CF8"/>
                </a:solidFill>
              </a:defRPr>
            </a:pPr>
            <a:r>
              <a:t>• Lack of Diagnostic Feedback: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Typical tools only output '3NF' or 'BCNF' without explaining exactly WHICH functional dependency caused the violation.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System Requirements &amp; Objectives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What our application delivers</a:t>
            </a:r>
          </a:p>
          <a:p>
            <a:pPr>
              <a:spcBef>
                <a:spcPts val="800"/>
              </a:spcBef>
              <a:defRPr b="1" sz="1200">
                <a:solidFill>
                  <a:srgbClr val="34D399"/>
                </a:solidFill>
              </a:defRPr>
            </a:pPr>
            <a:r>
              <a:t>✔ Flexible Schema &amp; FD Parser: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Accepts arbitrary attribute names and dependency notations (-&gt;, =&gt;, →) with real-time schema validation.</a:t>
            </a:r>
          </a:p>
          <a:p>
            <a:pPr>
              <a:spcBef>
                <a:spcPts val="800"/>
              </a:spcBef>
              <a:defRPr b="1" sz="1200">
                <a:solidFill>
                  <a:srgbClr val="34D399"/>
                </a:solidFill>
              </a:defRPr>
            </a:pPr>
            <a:r>
              <a:t>✔ Explainable Step-by-Step Closures: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Visualizes each iteration of Armstrong's Axioms showing exactly which FD contributed new attributes.</a:t>
            </a:r>
          </a:p>
          <a:p>
            <a:pPr>
              <a:spcBef>
                <a:spcPts val="800"/>
              </a:spcBef>
              <a:defRPr b="1" sz="1200">
                <a:solidFill>
                  <a:srgbClr val="34D399"/>
                </a:solidFill>
              </a:defRPr>
            </a:pPr>
            <a:r>
              <a:t>✔ Automated Candidate Key Discovery: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Accurately partitions attributes into Prime and Non-Prime subsets for precise schema diagnostics.</a:t>
            </a:r>
          </a:p>
          <a:p>
            <a:pPr>
              <a:spcBef>
                <a:spcPts val="800"/>
              </a:spcBef>
              <a:defRPr b="1" sz="1200">
                <a:solidFill>
                  <a:srgbClr val="34D399"/>
                </a:solidFill>
              </a:defRPr>
            </a:pPr>
            <a:r>
              <a:t>✔ Granular Normal Form Auditing: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Tests every single dependency against formal 2NF, 3NF, and BCNF rules to deliver an actionable audit 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TECHNICAL IMPLEMENTATION • 2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Engineering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1. Presentation &amp; Interaction Layer   |   </a:t>
            </a:r>
            <a:r>
              <a:rPr sz="1200" b="1">
                <a:solidFill>
                  <a:srgbClr val="C084FC"/>
                </a:solidFill>
              </a:rPr>
              <a:t>[React 19 + Lucide Icons]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Handles reactive two-column UI, dark/light theme toggle, interactive attribute pill selectors (+A, +B), and live preview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2. State &amp; Performance Layer   |   </a:t>
            </a:r>
            <a:r>
              <a:rPr sz="1200" b="1">
                <a:solidFill>
                  <a:srgbClr val="C084FC"/>
                </a:solidFill>
              </a:rPr>
              <a:t>[Vite 8 + React useMemo Hooks]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Optimized recalculation pipeline with zero lag; memoized derivations ensure smooth updates upon each keystroke without re-rendering delays.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9651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3. Computational Math Engine   |   </a:t>
            </a:r>
            <a:r>
              <a:rPr sz="1200" b="1">
                <a:solidFill>
                  <a:srgbClr val="C084FC"/>
                </a:solidFill>
              </a:rPr>
              <a:t>[src/utils/normalization.js]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Pure, decoupled JavaScript algorithmic core executing Armstrong's Axioms, closure calculations, power-set key searches, and normal form proofs.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4. Automated Verification Suite   |   </a:t>
            </a:r>
            <a:r>
              <a:rPr sz="1200" b="1">
                <a:solidFill>
                  <a:srgbClr val="C084FC"/>
                </a:solidFill>
              </a:rPr>
              <a:t>[CLI Engine (test-normalization.js)]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Independent automated test suite validating algorithm accuracy on classic exam problems, transitive loops, and edge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CORE ALGORITHMIC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1: Attribute Closure (X⁺) Calculation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Algorithm Formulation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Fixed-Point Iteration on Armstrong's Axioms</a:t>
            </a:r>
          </a:p>
          <a:p>
            <a:pPr>
              <a:defRPr b="1" sz="1300">
                <a:solidFill>
                  <a:srgbClr val="818CF8"/>
                </a:solidFill>
              </a:defRPr>
            </a:pPr>
            <a:r>
              <a:t>Mathematical Definition: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Given schema R and set of FDs F, the closure X⁺ is the maximal set of attributes functionally determined by X.</a:t>
            </a:r>
          </a:p>
          <a:p>
            <a:pPr>
              <a:spcBef>
                <a:spcPts val="600"/>
              </a:spcBef>
              <a:defRPr b="1" sz="1150">
                <a:solidFill>
                  <a:srgbClr val="34D399"/>
                </a:solidFill>
              </a:defRPr>
            </a:pPr>
            <a:r>
              <a:t>• Step 1: Initialization: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Set X⁺ = X. Record initial state in derivation timeline.</a:t>
            </a:r>
          </a:p>
          <a:p>
            <a:pPr>
              <a:spcBef>
                <a:spcPts val="600"/>
              </a:spcBef>
              <a:defRPr b="1" sz="1150">
                <a:solidFill>
                  <a:srgbClr val="34D399"/>
                </a:solidFill>
              </a:defRPr>
            </a:pPr>
            <a:r>
              <a:t>• Step 2: Dependency Scan: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Iterate over all FDs (Y → Z) in F. Check if LHS Y ⊆ current X⁺.</a:t>
            </a:r>
          </a:p>
          <a:p>
            <a:pPr>
              <a:spcBef>
                <a:spcPts val="600"/>
              </a:spcBef>
              <a:defRPr b="1" sz="1150">
                <a:solidFill>
                  <a:srgbClr val="34D399"/>
                </a:solidFill>
              </a:defRPr>
            </a:pPr>
            <a:r>
              <a:t>• Step 3: Expansion: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If Y ⊆ X⁺ and Z ⊄ X⁺, add Z to X⁺, mark state change, and log the applied rule.</a:t>
            </a:r>
          </a:p>
          <a:p>
            <a:pPr>
              <a:spcBef>
                <a:spcPts val="600"/>
              </a:spcBef>
              <a:defRPr b="1" sz="1150">
                <a:solidFill>
                  <a:srgbClr val="34D399"/>
                </a:solidFill>
              </a:defRPr>
            </a:pPr>
            <a:r>
              <a:t>• Step 4: Fixed-Point Halt: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Repeat until a complete scan yields no new attributes (convergence).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UI &amp; Interactive Features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Visualizing Armstrong's Axioms</a:t>
            </a:r>
          </a:p>
          <a:p>
            <a:pPr>
              <a:spcBef>
                <a:spcPts val="800"/>
              </a:spcBef>
              <a:defRPr b="1" sz="1200">
                <a:solidFill>
                  <a:srgbClr val="818CF8"/>
                </a:solidFill>
              </a:defRPr>
            </a:pPr>
            <a:r>
              <a:t>✔ Interactive Quick-Add Pills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One-click pills (+A, +B, etc.) allow users to quickly toggle attributes in and out of the closure target.</a:t>
            </a:r>
          </a:p>
          <a:p>
            <a:pPr>
              <a:spcBef>
                <a:spcPts val="800"/>
              </a:spcBef>
              <a:defRPr b="1" sz="1200">
                <a:solidFill>
                  <a:srgbClr val="818CF8"/>
                </a:solidFill>
              </a:defRPr>
            </a:pPr>
            <a:r>
              <a:t>✔ Visual Step-by-Step Timeline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Every single iteration generates a timeline step showing the exact FD applied and resulting expansion.</a:t>
            </a:r>
          </a:p>
          <a:p>
            <a:pPr>
              <a:spcBef>
                <a:spcPts val="800"/>
              </a:spcBef>
              <a:defRPr b="1" sz="1200">
                <a:solidFill>
                  <a:srgbClr val="818CF8"/>
                </a:solidFill>
              </a:defRPr>
            </a:pPr>
            <a:r>
              <a:t>✔ Fixed-Point Stabilization Alert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Explicitly highlights when the fixed-point is reached and confirms algorithm termination.</a:t>
            </a:r>
          </a:p>
          <a:p>
            <a:pPr>
              <a:spcBef>
                <a:spcPts val="800"/>
              </a:spcBef>
              <a:defRPr b="1" sz="1200">
                <a:solidFill>
                  <a:srgbClr val="818CF8"/>
                </a:solidFill>
              </a:defRPr>
            </a:pPr>
            <a:r>
              <a:t>✔ Real-Time Reactive Updates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Changing the schema or target immediately recalculates without reloading or blocking.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COMBINATORIAL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2: Candidate Key Discovery &amp; Pruning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Smart Search Space Pruning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Avoiding Naive 2^N Exponential Checks</a:t>
            </a:r>
          </a:p>
          <a:p>
            <a:pPr>
              <a:spcBef>
                <a:spcPts val="600"/>
              </a:spcBef>
              <a:defRPr b="1" sz="1200">
                <a:solidFill>
                  <a:srgbClr val="818CF8"/>
                </a:solidFill>
              </a:defRPr>
            </a:pPr>
            <a:r>
              <a:t>• Essential Attributes (Must-Have)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Attributes that never appear on the RHS of any FD (or don't appear in F at all). Because no FD can generate them, they MUST be part of every candidate key!</a:t>
            </a:r>
          </a:p>
          <a:p>
            <a:pPr>
              <a:spcBef>
                <a:spcPts val="600"/>
              </a:spcBef>
              <a:defRPr b="1" sz="1200">
                <a:solidFill>
                  <a:srgbClr val="818CF8"/>
                </a:solidFill>
              </a:defRPr>
            </a:pPr>
            <a:r>
              <a:t>• RHS-Only Attributes (Excluded)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Attributes that appear ONLY on the RHS of FDs. They can never contribute new determinations; hence, they are strictly excluded from minimal keys.</a:t>
            </a:r>
          </a:p>
          <a:p>
            <a:pPr>
              <a:spcBef>
                <a:spcPts val="600"/>
              </a:spcBef>
              <a:defRPr b="1" sz="1200">
                <a:solidFill>
                  <a:srgbClr val="818CF8"/>
                </a:solidFill>
              </a:defRPr>
            </a:pPr>
            <a:r>
              <a:t>• Middle Attributes (Combinatorial Search)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Attributes appearing on both LHS and RHS. The engine generates subsets of middle attributes and adds them to essential attributes.</a:t>
            </a:r>
          </a:p>
          <a:p>
            <a:pPr>
              <a:spcBef>
                <a:spcPts val="600"/>
              </a:spcBef>
              <a:defRPr b="1" sz="1200">
                <a:solidFill>
                  <a:srgbClr val="818CF8"/>
                </a:solidFill>
              </a:defRPr>
            </a:pPr>
            <a:r>
              <a:t>• Minimality Pruning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Subsets are tested in ascending order of size. Any superset of an already discovered key is discarded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Attribute Classification &amp; Output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Prerequisite for Normal Form Analysis</a:t>
            </a:r>
          </a:p>
          <a:p>
            <a:pPr>
              <a:spcBef>
                <a:spcPts val="800"/>
              </a:spcBef>
              <a:defRPr b="1" sz="1200">
                <a:solidFill>
                  <a:srgbClr val="C084FC"/>
                </a:solidFill>
              </a:defRPr>
            </a:pPr>
            <a:r>
              <a:t>✔ Prime Attributes (Emerald Badge)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Attributes that belong to AT LEAST ONE candidate key. Crucial for verifying the 3NF condition (where RHS is prime).</a:t>
            </a:r>
          </a:p>
          <a:p>
            <a:pPr>
              <a:spcBef>
                <a:spcPts val="800"/>
              </a:spcBef>
              <a:defRPr b="1" sz="1200">
                <a:solidFill>
                  <a:srgbClr val="C084FC"/>
                </a:solidFill>
              </a:defRPr>
            </a:pPr>
            <a:r>
              <a:t>✔ Non-Prime Attributes (Crimson Badge)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Attributes that do not appear in ANY candidate key. Crucial for catching 2NF partial dependencies and 3NF transitive dependencies.</a:t>
            </a:r>
          </a:p>
          <a:p>
            <a:pPr>
              <a:spcBef>
                <a:spcPts val="800"/>
              </a:spcBef>
              <a:defRPr b="1" sz="1200">
                <a:solidFill>
                  <a:srgbClr val="C084FC"/>
                </a:solidFill>
              </a:defRPr>
            </a:pPr>
            <a:r>
              <a:t>✔ Candidate Key Cards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Visual cards displaying each discovered minimal key with key icon and formatted set notation (e.g. {AB}, {BC}).</a:t>
            </a:r>
          </a:p>
          <a:p>
            <a:pPr>
              <a:spcBef>
                <a:spcPts val="800"/>
              </a:spcBef>
              <a:defRPr b="1" sz="1200">
                <a:solidFill>
                  <a:srgbClr val="C084FC"/>
                </a:solidFill>
              </a:defRPr>
            </a:pPr>
            <a:r>
              <a:t>✔ Interactive Calculation Derivation Path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Collapsible accordion logging every tested subset closure and minimality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HIERARCHICAL VERIFICATION: 1NF → 2NF → 3NF → BCNF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Module 3: Normal Form Diagnostic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2NF (Second Normal Form)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Eliminates Partial Dependencies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Rule: No non-prime attribute should depend on a proper subset of any candidate key.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Engine Check: For each FD X → Y, if LHS X ⊂ Candidate Key K (proper subset) and Y contains non-prime attributes, 2NF is violated.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Result: Prevents redundancy where non-key attributes depend on only part of a composite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3375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3NF (Third Normal Form)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Eliminates Transitive Dependencies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Rule: For every non-trivial FD X → Y, either X is a Superkey OR Y is a Prime Attribute.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Engine Check: Evaluates (Y \ X). If all attributes in (Y \ X) are prime, 3NF holds even if X is not a superkey.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Result: Guarantees lossless join and dependency preservation while minimizing anomalies.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BCNF (Boyce-Codd Normal Form)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Strict Determinant Rule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Rule: For every non-trivial FD X → Y, X MUST be a Superkey.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Engine Check: Computes closure X⁺. If X⁺ = R, BCNF is satisfied. If X⁺ ⊂ R, BCNF is violated.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Result: The strictest normal form for functional dependencies; eliminates all FD-based redundancy.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SYSTEM DESIGN • 1 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Website Structure &amp; UI/UX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Modern UI/UX Philosophy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Engineered for clarity and engagement</a:t>
            </a:r>
          </a:p>
          <a:p>
            <a:pPr>
              <a:spcBef>
                <a:spcPts val="600"/>
              </a:spcBef>
              <a:defRPr b="1" sz="1200">
                <a:solidFill>
                  <a:srgbClr val="818CF8"/>
                </a:solidFill>
              </a:defRPr>
            </a:pPr>
            <a:r>
              <a:t>★ Glassmorphism Aesthetic: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Curated HSL color palette, subtle backdrop blurs, ambient radial lighting, and dark/light mode toggle with CSS variables.</a:t>
            </a:r>
          </a:p>
          <a:p>
            <a:pPr>
              <a:spcBef>
                <a:spcPts val="600"/>
              </a:spcBef>
              <a:defRPr b="1" sz="1200">
                <a:solidFill>
                  <a:srgbClr val="818CF8"/>
                </a:solidFill>
              </a:defRPr>
            </a:pPr>
            <a:r>
              <a:t>★ Two-Column Dashboard Grid: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Left column dedicated to relation management, FD input, and presets; right column dedicated to tabbed analytical outputs.</a:t>
            </a:r>
          </a:p>
          <a:p>
            <a:pPr>
              <a:spcBef>
                <a:spcPts val="600"/>
              </a:spcBef>
              <a:defRPr b="1" sz="1200">
                <a:solidFill>
                  <a:srgbClr val="818CF8"/>
                </a:solidFill>
              </a:defRPr>
            </a:pPr>
            <a:r>
              <a:t>★ Micro-Interactions &amp; Quick Actions: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Pill buttons (+A, +B), collapsible calculation paths, and responsive card hovers for effortless exploration.</a:t>
            </a:r>
          </a:p>
          <a:p>
            <a:pPr>
              <a:spcBef>
                <a:spcPts val="600"/>
              </a:spcBef>
              <a:defRPr b="1" sz="1200">
                <a:solidFill>
                  <a:srgbClr val="818CF8"/>
                </a:solidFill>
              </a:defRPr>
            </a:pPr>
            <a:r>
              <a:t>★ Zero Page Reloads: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Instantaneous updates powered by React state memoization — change a character, and the entire normalization tree re-evaluates.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Educational Value &amp; Documentation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Built as a student &amp; instructor workbench</a:t>
            </a:r>
          </a:p>
          <a:p>
            <a:pPr>
              <a:spcBef>
                <a:spcPts val="600"/>
              </a:spcBef>
              <a:defRPr b="1" sz="1200">
                <a:solidFill>
                  <a:srgbClr val="34D399"/>
                </a:solidFill>
              </a:defRPr>
            </a:pPr>
            <a:r>
              <a:t>✔ Hero Normal Form Banner: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Top-level indicator prominently declaring the highest satisfied normal form with an executive explanation.</a:t>
            </a:r>
          </a:p>
          <a:p>
            <a:pPr>
              <a:spcBef>
                <a:spcPts val="600"/>
              </a:spcBef>
              <a:defRPr b="1" sz="1200">
                <a:solidFill>
                  <a:srgbClr val="34D399"/>
                </a:solidFill>
              </a:defRPr>
            </a:pPr>
            <a:r>
              <a:t>✔ Granular Per-FD Report Cards: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Each functional dependency is evaluated individually with color-coded pass/fail badges for 2NF, 3NF, and BCNF.</a:t>
            </a:r>
          </a:p>
          <a:p>
            <a:pPr>
              <a:spcBef>
                <a:spcPts val="600"/>
              </a:spcBef>
              <a:defRPr b="1" sz="1200">
                <a:solidFill>
                  <a:srgbClr val="34D399"/>
                </a:solidFill>
              </a:defRPr>
            </a:pPr>
            <a:r>
              <a:t>✔ Educational Reference Cards: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Bottom section embeds mathematical definitions, formal axioms, and satisfiability hierarchy (BCNF ⊂ 3NF ⊂ 2NF ⊂ 1NF).</a:t>
            </a:r>
          </a:p>
          <a:p>
            <a:pPr>
              <a:spcBef>
                <a:spcPts val="600"/>
              </a:spcBef>
              <a:defRPr b="1" sz="1200">
                <a:solidFill>
                  <a:srgbClr val="34D399"/>
                </a:solidFill>
              </a:defRPr>
            </a:pPr>
            <a:r>
              <a:t>✔ Ready-to-Use Exam Presets: 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Includes standard university exam questions for instant one-click demonstration.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TESTING &amp; PROGRESS • 2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Testing &amp; Progressive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Automated Unit Test Suite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CLI Execution via test-normalization.js</a:t>
            </a:r>
          </a:p>
          <a:p>
            <a:pPr>
              <a:spcBef>
                <a:spcPts val="500"/>
              </a:spcBef>
              <a:defRPr b="1" sz="1150">
                <a:solidFill>
                  <a:srgbClr val="34D399"/>
                </a:solidFill>
              </a:defRPr>
            </a:pPr>
            <a:r>
              <a:t>✔ Test Case 1: Transitive Dependency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R(A, B, C, D) | A → B, B → C, C → D</a:t>
            </a:r>
            <a:br/>
            <a:r>
              <a:t>→ Key: {A} | Result: 2NF Pass, 3NF Fail (Transitive dependency on non-prime).</a:t>
            </a:r>
          </a:p>
          <a:p>
            <a:pPr>
              <a:spcBef>
                <a:spcPts val="500"/>
              </a:spcBef>
              <a:defRPr b="1" sz="1150">
                <a:solidFill>
                  <a:srgbClr val="34D399"/>
                </a:solidFill>
              </a:defRPr>
            </a:pPr>
            <a:r>
              <a:t>✔ Test Case 2: Partial Dependency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R(A, B, C, D) | AB → C, A → D</a:t>
            </a:r>
            <a:br/>
            <a:r>
              <a:t>→ Key: {AB} | Result: 2NF Fail (LHS {A} is proper subset determining non-prime D).</a:t>
            </a:r>
          </a:p>
          <a:p>
            <a:pPr>
              <a:spcBef>
                <a:spcPts val="500"/>
              </a:spcBef>
              <a:defRPr b="1" sz="1150">
                <a:solidFill>
                  <a:srgbClr val="34D399"/>
                </a:solidFill>
              </a:defRPr>
            </a:pPr>
            <a:r>
              <a:t>✔ Test Case 3: 3NF but not BCNF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R(A, B, C) | AB → C, C → A</a:t>
            </a:r>
            <a:br/>
            <a:r>
              <a:t>→ Keys: {AB}, {BC} | Result: 3NF Pass (A is prime), BCNF Fail (C is not superkey).</a:t>
            </a:r>
          </a:p>
          <a:p>
            <a:pPr>
              <a:spcBef>
                <a:spcPts val="500"/>
              </a:spcBef>
              <a:defRPr b="1" sz="1150">
                <a:solidFill>
                  <a:srgbClr val="34D399"/>
                </a:solidFill>
              </a:defRPr>
            </a:pPr>
            <a:r>
              <a:t>✔ Test Case 4: Multiple Overlapping Keys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R(A, B, C, D, E) | AB → C, C → D, D → B, D → E</a:t>
            </a:r>
            <a:br/>
            <a:r>
              <a:t>→ Verified all overlapping candidate keys and prime classification.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Development Lifecycle &amp; Progress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Milestone-Driven Engineering Flow</a:t>
            </a:r>
          </a:p>
          <a:p>
            <a:pPr>
              <a:spcBef>
                <a:spcPts val="500"/>
              </a:spcBef>
              <a:defRPr b="1" sz="1150">
                <a:solidFill>
                  <a:srgbClr val="818CF8"/>
                </a:solidFill>
              </a:defRPr>
            </a:pPr>
            <a:r>
              <a:t>Phase Milestone 1: Mathematical Engine &amp; CLI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Designed core closure and key search algorithms. Verified correctness using automated console test scripts before any UI coding.</a:t>
            </a:r>
          </a:p>
          <a:p>
            <a:pPr>
              <a:spcBef>
                <a:spcPts val="500"/>
              </a:spcBef>
              <a:defRPr b="1" sz="1150">
                <a:solidFill>
                  <a:srgbClr val="818CF8"/>
                </a:solidFill>
              </a:defRPr>
            </a:pPr>
            <a:r>
              <a:t>Phase Milestone 2: Reactive State Architecture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Integrated engine with React 19 memoized hooks (useMemo) to ensure instant UI re-renders upon input changes without latency.</a:t>
            </a:r>
          </a:p>
          <a:p>
            <a:pPr>
              <a:spcBef>
                <a:spcPts val="500"/>
              </a:spcBef>
              <a:defRPr b="1" sz="1150">
                <a:solidFill>
                  <a:srgbClr val="818CF8"/>
                </a:solidFill>
              </a:defRPr>
            </a:pPr>
            <a:r>
              <a:t>Phase Milestone 3: Visual Derivation Timelines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Built step-by-step expansion visualizers, collapsible accordions, and color-coded Prime/Non-Prime attribute tags.</a:t>
            </a:r>
          </a:p>
          <a:p>
            <a:pPr>
              <a:spcBef>
                <a:spcPts val="500"/>
              </a:spcBef>
              <a:defRPr b="1" sz="1150">
                <a:solidFill>
                  <a:srgbClr val="818CF8"/>
                </a:solidFill>
              </a:defRPr>
            </a:pPr>
            <a:r>
              <a:t>Phase Milestone 4: Diagnostic UX &amp; Polish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Engineered per-FD audit report cards, built-in exam presets, and responsive Dark/Light theme switching.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INNOVATION &amp; EXCELLENCE • 2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Creativity &amp; Key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1. Explainable AI / Algorithmic Transparency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Rather than presenting a 'black-box' result, the system logs every micro-decision: which FD fired, which attribute was added, and why fixed-point convergence occurred.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2. Mathematical Search-Space Pruning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Replaced brute-force exponential iteration with relational theory optimizations: partitioning attributes into Essential (must-have), RHS-only (excluded), and Middle subsets.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3. Actionable Per-FD Diagnostic Cards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Instead of a generic 'Not in BCNF' error, the tool highlights the exact offending dependency and cites the violated condition (e.g. proper subset of key {AB}).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4. Interactive One-Click Exam Testbed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Integrated pre-loaded templates reflecting real-world university exam problems, allowing students and instructors to benchmark theoretical examples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FINAL EVALUATION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&amp; Project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Project Impact Summary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What was achieved</a:t>
            </a:r>
          </a:p>
          <a:p>
            <a:pPr>
              <a:spcBef>
                <a:spcPts val="800"/>
              </a:spcBef>
              <a:defRPr b="1" sz="1200">
                <a:solidFill>
                  <a:srgbClr val="34D399"/>
                </a:solidFill>
              </a:defRPr>
            </a:pPr>
            <a:r>
              <a:t>✔ 100% Mathematically Rigorous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Accurately derives Armstrong closures, minimal candidate keys, and normal forms without approximations.</a:t>
            </a:r>
          </a:p>
          <a:p>
            <a:pPr>
              <a:spcBef>
                <a:spcPts val="800"/>
              </a:spcBef>
              <a:defRPr b="1" sz="1200">
                <a:solidFill>
                  <a:srgbClr val="34D399"/>
                </a:solidFill>
              </a:defRPr>
            </a:pPr>
            <a:r>
              <a:t>✔ Pedagogical Excellence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Serves as an educational companion for DBMS students to visualize and learn schema normalization interactively.</a:t>
            </a:r>
          </a:p>
          <a:p>
            <a:pPr>
              <a:spcBef>
                <a:spcPts val="800"/>
              </a:spcBef>
              <a:defRPr b="1" sz="1200">
                <a:solidFill>
                  <a:srgbClr val="34D399"/>
                </a:solidFill>
              </a:defRPr>
            </a:pPr>
            <a:r>
              <a:t>✔ Modern Web Architecture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High performance, zero dependencies beyond React and icons, responsive, and aesthetically pleasing with dark/light themes.</a:t>
            </a:r>
          </a:p>
          <a:p>
            <a:pPr>
              <a:spcBef>
                <a:spcPts val="800"/>
              </a:spcBef>
              <a:defRPr b="1" sz="1200">
                <a:solidFill>
                  <a:srgbClr val="34D399"/>
                </a:solidFill>
              </a:defRPr>
            </a:pPr>
            <a:r>
              <a:t>✔ Validated via Comprehensive Testing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All core features backed by unit tests matching standard database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18CF8"/>
                </a:solidFill>
              </a:defRPr>
            </a:pPr>
            <a:r>
              <a:t>Future Roadmap &amp; Extension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Potential evolutions</a:t>
            </a:r>
          </a:p>
          <a:p>
            <a:pPr>
              <a:spcBef>
                <a:spcPts val="800"/>
              </a:spcBef>
              <a:defRPr b="1" sz="1200">
                <a:solidFill>
                  <a:srgbClr val="C084FC"/>
                </a:solidFill>
              </a:defRPr>
            </a:pPr>
            <a:r>
              <a:t>★ Lossless Join &amp; Dependency Preservation Test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Automated decomposition checking using Chase algorithm / tableau tests.</a:t>
            </a:r>
          </a:p>
          <a:p>
            <a:pPr>
              <a:spcBef>
                <a:spcPts val="800"/>
              </a:spcBef>
              <a:defRPr b="1" sz="1200">
                <a:solidFill>
                  <a:srgbClr val="C084FC"/>
                </a:solidFill>
              </a:defRPr>
            </a:pPr>
            <a:r>
              <a:t>★ Synthesis Algorithm (3NF &amp; BCNF)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Automatically suggesting decomposed relations (R1, R2, ...) to achieve BCNF/3NF with minimal tables.</a:t>
            </a:r>
          </a:p>
          <a:p>
            <a:pPr>
              <a:spcBef>
                <a:spcPts val="800"/>
              </a:spcBef>
              <a:defRPr b="1" sz="1200">
                <a:solidFill>
                  <a:srgbClr val="C084FC"/>
                </a:solidFill>
              </a:defRPr>
            </a:pPr>
            <a:r>
              <a:t>★ SQL DDL Generation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One-click export of normalized schemas directly into CREATE TABLE DDL scripts with primary and foreign key constraints.</a:t>
            </a:r>
          </a:p>
          <a:p>
            <a:pPr>
              <a:spcBef>
                <a:spcPts val="800"/>
              </a:spcBef>
              <a:defRPr b="1" sz="1200">
                <a:solidFill>
                  <a:srgbClr val="C084FC"/>
                </a:solidFill>
              </a:defRPr>
            </a:pPr>
            <a:r>
              <a:t>★ Exportable PDF Reports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Generating formal PDF normalization audit certificates for database design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